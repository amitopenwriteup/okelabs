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introduces containerization and the core Docker building blocks: the components of Docker, how images work, and how registries store and share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topics in this session: the basic idea of containerization, the components that make up Docker, how images are built and layered, and how registries distribute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point. Applications behave differently across environments because of differences in operating systems, libraries and configuration. Containers remove that variation by shipping the environment with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term, then walk through the three properties that matter most: isolation, portability and low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machine virtualizes hardware and runs a full guest operating system. A container virtualizes at the operating system level and shares the host kernel. Sizes and startup times are typical, and vary by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uses a client-server architecture. The client talks to the daemon, the daemon manages images and containers, and registries hold images that can be pulled or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image is built layer by layer. Unchanged layers are reused from the cache, so rebuilds are fast. Many containers can share the same image layers, each with its own thin writable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Dockerfile describes how to build an image. docker build turns it into an image, and docker run starts a container from that image. The Node example is illustrative; any language works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registry is where images are shared. Push uploads an image, pull downloads it. When no registry is named, Docker uses Docker Hub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ideas: containers package applications, Docker has five core components, images are layered templates, and registries distribute images.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0F2A4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0F2A4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0F2A4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0F2A4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07400" y="1943100"/>
            <a:ext cx="889000" cy="889000"/>
          </a:xfrm>
          <a:prstGeom prst="roundRect">
            <a:avLst>
              <a:gd name="adj" fmla="val 14286"/>
            </a:avLst>
          </a:prstGeom>
          <a:solidFill>
            <a:srgbClr val="1D63ED"/>
          </a:solidFill>
          <a:ln/>
        </p:spPr>
      </p:sp>
      <p:sp>
        <p:nvSpPr>
          <p:cNvPr id="3" name="Shape 1"/>
          <p:cNvSpPr/>
          <p:nvPr/>
        </p:nvSpPr>
        <p:spPr>
          <a:xfrm>
            <a:off x="9448800" y="1943100"/>
            <a:ext cx="889000" cy="889000"/>
          </a:xfrm>
          <a:prstGeom prst="roundRect">
            <a:avLst>
              <a:gd name="adj" fmla="val 14286"/>
            </a:avLst>
          </a:prstGeom>
          <a:solidFill>
            <a:srgbClr val="1D63ED"/>
          </a:solidFill>
          <a:ln/>
        </p:spPr>
      </p:sp>
      <p:sp>
        <p:nvSpPr>
          <p:cNvPr id="4" name="Shape 2"/>
          <p:cNvSpPr/>
          <p:nvPr/>
        </p:nvSpPr>
        <p:spPr>
          <a:xfrm>
            <a:off x="10490200" y="1943100"/>
            <a:ext cx="889000" cy="889000"/>
          </a:xfrm>
          <a:prstGeom prst="roundRect">
            <a:avLst>
              <a:gd name="adj" fmla="val 14286"/>
            </a:avLst>
          </a:prstGeom>
          <a:solidFill>
            <a:srgbClr val="8FB2F7"/>
          </a:solidFill>
          <a:ln/>
        </p:spPr>
      </p:sp>
      <p:sp>
        <p:nvSpPr>
          <p:cNvPr id="5" name="Shape 3"/>
          <p:cNvSpPr/>
          <p:nvPr/>
        </p:nvSpPr>
        <p:spPr>
          <a:xfrm>
            <a:off x="8407400" y="2984500"/>
            <a:ext cx="889000" cy="889000"/>
          </a:xfrm>
          <a:prstGeom prst="roundRect">
            <a:avLst>
              <a:gd name="adj" fmla="val 14286"/>
            </a:avLst>
          </a:prstGeom>
          <a:solidFill>
            <a:srgbClr val="1D63ED"/>
          </a:solidFill>
          <a:ln/>
        </p:spPr>
      </p:sp>
      <p:sp>
        <p:nvSpPr>
          <p:cNvPr id="6" name="Shape 4"/>
          <p:cNvSpPr/>
          <p:nvPr/>
        </p:nvSpPr>
        <p:spPr>
          <a:xfrm>
            <a:off x="9448800" y="2984500"/>
            <a:ext cx="889000" cy="889000"/>
          </a:xfrm>
          <a:prstGeom prst="roundRect">
            <a:avLst>
              <a:gd name="adj" fmla="val 14286"/>
            </a:avLst>
          </a:prstGeom>
          <a:solidFill>
            <a:srgbClr val="C9DAFB"/>
          </a:solidFill>
          <a:ln/>
        </p:spPr>
      </p:sp>
      <p:sp>
        <p:nvSpPr>
          <p:cNvPr id="7" name="Shape 5"/>
          <p:cNvSpPr/>
          <p:nvPr/>
        </p:nvSpPr>
        <p:spPr>
          <a:xfrm>
            <a:off x="10490200" y="2984500"/>
            <a:ext cx="889000" cy="889000"/>
          </a:xfrm>
          <a:prstGeom prst="roundRect">
            <a:avLst>
              <a:gd name="adj" fmla="val 14286"/>
            </a:avLst>
          </a:prstGeom>
          <a:solidFill>
            <a:srgbClr val="1D63ED"/>
          </a:solidFill>
          <a:ln/>
        </p:spPr>
      </p:sp>
      <p:sp>
        <p:nvSpPr>
          <p:cNvPr id="8" name="Shape 6"/>
          <p:cNvSpPr/>
          <p:nvPr/>
        </p:nvSpPr>
        <p:spPr>
          <a:xfrm>
            <a:off x="8407400" y="4025900"/>
            <a:ext cx="889000" cy="889000"/>
          </a:xfrm>
          <a:prstGeom prst="roundRect">
            <a:avLst>
              <a:gd name="adj" fmla="val 14286"/>
            </a:avLst>
          </a:prstGeom>
          <a:solidFill>
            <a:srgbClr val="8FB2F7"/>
          </a:solidFill>
          <a:ln/>
        </p:spPr>
      </p:sp>
      <p:sp>
        <p:nvSpPr>
          <p:cNvPr id="9" name="Shape 7"/>
          <p:cNvSpPr/>
          <p:nvPr/>
        </p:nvSpPr>
        <p:spPr>
          <a:xfrm>
            <a:off x="9448800" y="4025900"/>
            <a:ext cx="889000" cy="889000"/>
          </a:xfrm>
          <a:prstGeom prst="roundRect">
            <a:avLst>
              <a:gd name="adj" fmla="val 14286"/>
            </a:avLst>
          </a:prstGeom>
          <a:solidFill>
            <a:srgbClr val="1D63ED"/>
          </a:solidFill>
          <a:ln/>
        </p:spPr>
      </p:sp>
      <p:sp>
        <p:nvSpPr>
          <p:cNvPr id="10" name="Shape 8"/>
          <p:cNvSpPr/>
          <p:nvPr/>
        </p:nvSpPr>
        <p:spPr>
          <a:xfrm>
            <a:off x="10490200" y="4025900"/>
            <a:ext cx="889000" cy="889000"/>
          </a:xfrm>
          <a:prstGeom prst="roundRect">
            <a:avLst>
              <a:gd name="adj" fmla="val 14286"/>
            </a:avLst>
          </a:prstGeom>
          <a:solidFill>
            <a:srgbClr val="C9DAFB"/>
          </a:solidFill>
          <a:ln/>
        </p:spPr>
      </p:sp>
      <p:sp>
        <p:nvSpPr>
          <p:cNvPr id="11" name="Text 9"/>
          <p:cNvSpPr/>
          <p:nvPr/>
        </p:nvSpPr>
        <p:spPr>
          <a:xfrm>
            <a:off x="812800" y="2199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63ED"/>
                </a:solidFill>
                <a:latin typeface="Arial" pitchFamily="34" charset="0"/>
                <a:ea typeface="Arial" pitchFamily="34" charset="-122"/>
                <a:cs typeface="Arial" pitchFamily="34" charset="-120"/>
              </a:rPr>
              <a:t>DOCKER FUNDAMENTALS</a:t>
            </a:r>
            <a:endParaRPr lang="en-US" sz="1200" dirty="0"/>
          </a:p>
        </p:txBody>
      </p:sp>
      <p:sp>
        <p:nvSpPr>
          <p:cNvPr id="12" name="Text 10"/>
          <p:cNvSpPr/>
          <p:nvPr>
            <p:ph type="title"/>
          </p:nvPr>
        </p:nvSpPr>
        <p:spPr>
          <a:xfrm>
            <a:off x="812800" y="2616200"/>
            <a:ext cx="10883392" cy="1254654"/>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0F2A43"/>
                </a:solidFill>
                <a:latin typeface="Arial" pitchFamily="34" charset="0"/>
                <a:ea typeface="Arial" pitchFamily="34" charset="-122"/>
                <a:cs typeface="Arial" pitchFamily="34" charset="-120"/>
              </a:rPr>
              <a:t>Introduction to</a:t>
            </a:r>
            <a:endParaRPr lang="en-US" sz="4400" dirty="0"/>
          </a:p>
          <a:p>
            <a:pPr algn="l" indent="0" marL="0">
              <a:lnSpc>
                <a:spcPts val="4840"/>
              </a:lnSpc>
              <a:buNone/>
            </a:pPr>
            <a:r>
              <a:rPr lang="en-US" sz="4400" b="1" i="0" dirty="0">
                <a:solidFill>
                  <a:srgbClr val="0F2A43"/>
                </a:solidFill>
                <a:latin typeface="Arial" pitchFamily="34" charset="0"/>
                <a:ea typeface="Arial" pitchFamily="34" charset="-122"/>
                <a:cs typeface="Arial" pitchFamily="34" charset="-120"/>
              </a:rPr>
              <a:t>Containerization</a:t>
            </a:r>
            <a:endParaRPr lang="en-US" sz="4400" dirty="0"/>
          </a:p>
        </p:txBody>
      </p:sp>
      <p:sp>
        <p:nvSpPr>
          <p:cNvPr id="13" name="Shape 11"/>
          <p:cNvSpPr/>
          <p:nvPr/>
        </p:nvSpPr>
        <p:spPr>
          <a:xfrm>
            <a:off x="812800" y="4048654"/>
            <a:ext cx="762000" cy="50800"/>
          </a:xfrm>
          <a:prstGeom prst="roundRect">
            <a:avLst>
              <a:gd name="adj" fmla="val 50000"/>
            </a:avLst>
          </a:prstGeom>
          <a:solidFill>
            <a:srgbClr val="1D63ED"/>
          </a:solidFill>
          <a:ln/>
        </p:spPr>
      </p:sp>
      <p:sp>
        <p:nvSpPr>
          <p:cNvPr id="14" name="Text 12"/>
          <p:cNvSpPr/>
          <p:nvPr/>
        </p:nvSpPr>
        <p:spPr>
          <a:xfrm>
            <a:off x="812800" y="4302654"/>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D4F63"/>
                </a:solidFill>
                <a:latin typeface="Arial" pitchFamily="34" charset="0"/>
                <a:ea typeface="Arial" pitchFamily="34" charset="-122"/>
                <a:cs typeface="Arial" pitchFamily="34" charset="-120"/>
              </a:rPr>
              <a:t>Docker components, images and registry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What we will cover</a:t>
            </a:r>
            <a:endParaRPr lang="en-US" sz="3200" dirty="0"/>
          </a:p>
        </p:txBody>
      </p:sp>
      <p:sp>
        <p:nvSpPr>
          <p:cNvPr id="3" name="Shape 1"/>
          <p:cNvSpPr/>
          <p:nvPr/>
        </p:nvSpPr>
        <p:spPr>
          <a:xfrm>
            <a:off x="815975" y="1588095"/>
            <a:ext cx="5175250" cy="1647957"/>
          </a:xfrm>
          <a:prstGeom prst="roundRect">
            <a:avLst>
              <a:gd name="adj" fmla="val 5973"/>
            </a:avLst>
          </a:prstGeom>
          <a:solidFill>
            <a:srgbClr val="F3F6FA"/>
          </a:solidFill>
          <a:ln w="6350">
            <a:solidFill>
              <a:srgbClr val="D6E0EC"/>
            </a:solidFill>
            <a:prstDash val="solid"/>
          </a:ln>
        </p:spPr>
      </p:sp>
      <p:sp>
        <p:nvSpPr>
          <p:cNvPr id="4" name="Text 2"/>
          <p:cNvSpPr/>
          <p:nvPr/>
        </p:nvSpPr>
        <p:spPr>
          <a:xfrm>
            <a:off x="1071033" y="1843154"/>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01</a:t>
            </a:r>
            <a:endParaRPr lang="en-US" sz="1200" dirty="0"/>
          </a:p>
        </p:txBody>
      </p:sp>
      <p:sp>
        <p:nvSpPr>
          <p:cNvPr id="5" name="Text 3"/>
          <p:cNvSpPr/>
          <p:nvPr/>
        </p:nvSpPr>
        <p:spPr>
          <a:xfrm>
            <a:off x="1071033" y="2132674"/>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Containerization basics</a:t>
            </a:r>
            <a:endParaRPr lang="en-US" sz="1800" dirty="0"/>
          </a:p>
        </p:txBody>
      </p:sp>
      <p:sp>
        <p:nvSpPr>
          <p:cNvPr id="6" name="Text 4"/>
          <p:cNvSpPr/>
          <p:nvPr/>
        </p:nvSpPr>
        <p:spPr>
          <a:xfrm>
            <a:off x="1071033" y="2483181"/>
            <a:ext cx="4805087"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The problem containers solve and how they differ from virtual machines</a:t>
            </a:r>
            <a:endParaRPr lang="en-US" sz="1400" dirty="0"/>
          </a:p>
        </p:txBody>
      </p:sp>
      <p:sp>
        <p:nvSpPr>
          <p:cNvPr id="7" name="Shape 5"/>
          <p:cNvSpPr/>
          <p:nvPr/>
        </p:nvSpPr>
        <p:spPr>
          <a:xfrm>
            <a:off x="6200775" y="1588095"/>
            <a:ext cx="5175250" cy="1647957"/>
          </a:xfrm>
          <a:prstGeom prst="roundRect">
            <a:avLst>
              <a:gd name="adj" fmla="val 5973"/>
            </a:avLst>
          </a:prstGeom>
          <a:solidFill>
            <a:srgbClr val="F3F6FA"/>
          </a:solidFill>
          <a:ln w="6350">
            <a:solidFill>
              <a:srgbClr val="D6E0EC"/>
            </a:solidFill>
            <a:prstDash val="solid"/>
          </a:ln>
        </p:spPr>
      </p:sp>
      <p:sp>
        <p:nvSpPr>
          <p:cNvPr id="8" name="Text 6"/>
          <p:cNvSpPr/>
          <p:nvPr/>
        </p:nvSpPr>
        <p:spPr>
          <a:xfrm>
            <a:off x="6455833" y="1843154"/>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6455833" y="2132674"/>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Docker components</a:t>
            </a:r>
            <a:endParaRPr lang="en-US" sz="1800" dirty="0"/>
          </a:p>
        </p:txBody>
      </p:sp>
      <p:sp>
        <p:nvSpPr>
          <p:cNvPr id="10" name="Text 8"/>
          <p:cNvSpPr/>
          <p:nvPr/>
        </p:nvSpPr>
        <p:spPr>
          <a:xfrm>
            <a:off x="6455833" y="2483181"/>
            <a:ext cx="480508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Client, daemon, images, containers and registry</a:t>
            </a:r>
            <a:endParaRPr lang="en-US" sz="1400" dirty="0"/>
          </a:p>
        </p:txBody>
      </p:sp>
      <p:sp>
        <p:nvSpPr>
          <p:cNvPr id="11" name="Shape 9"/>
          <p:cNvSpPr/>
          <p:nvPr/>
        </p:nvSpPr>
        <p:spPr>
          <a:xfrm>
            <a:off x="815975" y="3445603"/>
            <a:ext cx="5175250" cy="1399051"/>
          </a:xfrm>
          <a:prstGeom prst="roundRect">
            <a:avLst>
              <a:gd name="adj" fmla="val 7035"/>
            </a:avLst>
          </a:prstGeom>
          <a:solidFill>
            <a:srgbClr val="F3F6FA"/>
          </a:solidFill>
          <a:ln w="6350">
            <a:solidFill>
              <a:srgbClr val="D6E0EC"/>
            </a:solidFill>
            <a:prstDash val="solid"/>
          </a:ln>
        </p:spPr>
      </p:sp>
      <p:sp>
        <p:nvSpPr>
          <p:cNvPr id="12" name="Text 10"/>
          <p:cNvSpPr/>
          <p:nvPr/>
        </p:nvSpPr>
        <p:spPr>
          <a:xfrm>
            <a:off x="1071033" y="3700661"/>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1071033" y="3990181"/>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Docker images</a:t>
            </a:r>
            <a:endParaRPr lang="en-US" sz="1800" dirty="0"/>
          </a:p>
        </p:txBody>
      </p:sp>
      <p:sp>
        <p:nvSpPr>
          <p:cNvPr id="14" name="Text 12"/>
          <p:cNvSpPr/>
          <p:nvPr/>
        </p:nvSpPr>
        <p:spPr>
          <a:xfrm>
            <a:off x="1071033" y="4340689"/>
            <a:ext cx="480508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Layers, Dockerfiles and building an image</a:t>
            </a:r>
            <a:endParaRPr lang="en-US" sz="1400" dirty="0"/>
          </a:p>
        </p:txBody>
      </p:sp>
      <p:sp>
        <p:nvSpPr>
          <p:cNvPr id="15" name="Shape 13"/>
          <p:cNvSpPr/>
          <p:nvPr/>
        </p:nvSpPr>
        <p:spPr>
          <a:xfrm>
            <a:off x="6200775" y="3445603"/>
            <a:ext cx="5175250" cy="1399051"/>
          </a:xfrm>
          <a:prstGeom prst="roundRect">
            <a:avLst>
              <a:gd name="adj" fmla="val 7035"/>
            </a:avLst>
          </a:prstGeom>
          <a:solidFill>
            <a:srgbClr val="F3F6FA"/>
          </a:solidFill>
          <a:ln w="6350">
            <a:solidFill>
              <a:srgbClr val="D6E0EC"/>
            </a:solidFill>
            <a:prstDash val="solid"/>
          </a:ln>
        </p:spPr>
      </p:sp>
      <p:sp>
        <p:nvSpPr>
          <p:cNvPr id="16" name="Text 14"/>
          <p:cNvSpPr/>
          <p:nvPr/>
        </p:nvSpPr>
        <p:spPr>
          <a:xfrm>
            <a:off x="6455833" y="3700661"/>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04</a:t>
            </a:r>
            <a:endParaRPr lang="en-US" sz="1200" dirty="0"/>
          </a:p>
        </p:txBody>
      </p:sp>
      <p:sp>
        <p:nvSpPr>
          <p:cNvPr id="17" name="Text 15"/>
          <p:cNvSpPr/>
          <p:nvPr/>
        </p:nvSpPr>
        <p:spPr>
          <a:xfrm>
            <a:off x="6455833" y="3990181"/>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Docker registry</a:t>
            </a:r>
            <a:endParaRPr lang="en-US" sz="1800" dirty="0"/>
          </a:p>
        </p:txBody>
      </p:sp>
      <p:sp>
        <p:nvSpPr>
          <p:cNvPr id="18" name="Text 16"/>
          <p:cNvSpPr/>
          <p:nvPr/>
        </p:nvSpPr>
        <p:spPr>
          <a:xfrm>
            <a:off x="6455833" y="4340689"/>
            <a:ext cx="480508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Storing, sharing and pulling images</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The problem containers solve</a:t>
            </a:r>
            <a:endParaRPr lang="en-US" sz="3200" dirty="0"/>
          </a:p>
        </p:txBody>
      </p:sp>
      <p:sp>
        <p:nvSpPr>
          <p:cNvPr id="3" name="Shape 1"/>
          <p:cNvSpPr/>
          <p:nvPr/>
        </p:nvSpPr>
        <p:spPr>
          <a:xfrm>
            <a:off x="812800" y="1584920"/>
            <a:ext cx="5537200" cy="2524390"/>
          </a:xfrm>
          <a:prstGeom prst="roundRect">
            <a:avLst>
              <a:gd name="adj" fmla="val 4025"/>
            </a:avLst>
          </a:prstGeom>
          <a:solidFill>
            <a:srgbClr val="1D63ED"/>
          </a:solidFill>
          <a:ln/>
        </p:spPr>
      </p:sp>
      <p:sp>
        <p:nvSpPr>
          <p:cNvPr id="4" name="Text 2"/>
          <p:cNvSpPr/>
          <p:nvPr/>
        </p:nvSpPr>
        <p:spPr>
          <a:xfrm>
            <a:off x="1219200" y="2138496"/>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FFFF"/>
                </a:solidFill>
                <a:latin typeface="Arial" pitchFamily="34" charset="0"/>
                <a:ea typeface="Arial" pitchFamily="34" charset="-122"/>
                <a:cs typeface="Arial" pitchFamily="34" charset="-120"/>
              </a:rPr>
              <a:t>THE CLASSIC COMPLAINT</a:t>
            </a:r>
            <a:endParaRPr lang="en-US" sz="1200" dirty="0"/>
          </a:p>
        </p:txBody>
      </p:sp>
      <p:sp>
        <p:nvSpPr>
          <p:cNvPr id="5" name="Text 3"/>
          <p:cNvSpPr/>
          <p:nvPr/>
        </p:nvSpPr>
        <p:spPr>
          <a:xfrm>
            <a:off x="1219200" y="2504216"/>
            <a:ext cx="4866132" cy="1076854"/>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FFFFF"/>
                </a:solidFill>
                <a:latin typeface="Arial" pitchFamily="34" charset="0"/>
                <a:ea typeface="Arial" pitchFamily="34" charset="-122"/>
                <a:cs typeface="Arial" pitchFamily="34" charset="-120"/>
              </a:rPr>
              <a:t>“It works on my machine.”</a:t>
            </a:r>
            <a:endParaRPr lang="en-US" sz="3600" dirty="0"/>
          </a:p>
        </p:txBody>
      </p:sp>
      <p:sp>
        <p:nvSpPr>
          <p:cNvPr id="6" name="Shape 4"/>
          <p:cNvSpPr/>
          <p:nvPr/>
        </p:nvSpPr>
        <p:spPr>
          <a:xfrm>
            <a:off x="6673850" y="1584920"/>
            <a:ext cx="0" cy="568854"/>
          </a:xfrm>
          <a:prstGeom prst="line">
            <a:avLst/>
          </a:prstGeom>
          <a:noFill/>
          <a:ln w="38100">
            <a:solidFill>
              <a:srgbClr val="1D63ED"/>
            </a:solidFill>
            <a:prstDash val="solid"/>
          </a:ln>
        </p:spPr>
      </p:sp>
      <p:sp>
        <p:nvSpPr>
          <p:cNvPr id="7" name="Text 5"/>
          <p:cNvSpPr/>
          <p:nvPr/>
        </p:nvSpPr>
        <p:spPr>
          <a:xfrm>
            <a:off x="6845300" y="1584920"/>
            <a:ext cx="466991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Different operating systems, libraries and versions on each laptop, test server and production</a:t>
            </a:r>
            <a:endParaRPr lang="en-US" sz="1600" dirty="0"/>
          </a:p>
        </p:txBody>
      </p:sp>
      <p:sp>
        <p:nvSpPr>
          <p:cNvPr id="8" name="Shape 6"/>
          <p:cNvSpPr/>
          <p:nvPr/>
        </p:nvSpPr>
        <p:spPr>
          <a:xfrm>
            <a:off x="6673850" y="2331576"/>
            <a:ext cx="0" cy="568854"/>
          </a:xfrm>
          <a:prstGeom prst="line">
            <a:avLst/>
          </a:prstGeom>
          <a:noFill/>
          <a:ln w="38100">
            <a:solidFill>
              <a:srgbClr val="1D63ED"/>
            </a:solidFill>
            <a:prstDash val="solid"/>
          </a:ln>
        </p:spPr>
      </p:sp>
      <p:sp>
        <p:nvSpPr>
          <p:cNvPr id="9" name="Text 7"/>
          <p:cNvSpPr/>
          <p:nvPr/>
        </p:nvSpPr>
        <p:spPr>
          <a:xfrm>
            <a:off x="6845300" y="2331576"/>
            <a:ext cx="466991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Manual setup steps that are slow and hard to repeat</a:t>
            </a:r>
            <a:endParaRPr lang="en-US" sz="1600" dirty="0"/>
          </a:p>
        </p:txBody>
      </p:sp>
      <p:sp>
        <p:nvSpPr>
          <p:cNvPr id="10" name="Shape 8"/>
          <p:cNvSpPr/>
          <p:nvPr/>
        </p:nvSpPr>
        <p:spPr>
          <a:xfrm>
            <a:off x="6673850" y="3078229"/>
            <a:ext cx="0" cy="568854"/>
          </a:xfrm>
          <a:prstGeom prst="line">
            <a:avLst/>
          </a:prstGeom>
          <a:noFill/>
          <a:ln w="38100">
            <a:solidFill>
              <a:srgbClr val="1D63ED"/>
            </a:solidFill>
            <a:prstDash val="solid"/>
          </a:ln>
        </p:spPr>
      </p:sp>
      <p:sp>
        <p:nvSpPr>
          <p:cNvPr id="11" name="Text 9"/>
          <p:cNvSpPr/>
          <p:nvPr/>
        </p:nvSpPr>
        <p:spPr>
          <a:xfrm>
            <a:off x="6845300" y="3078229"/>
            <a:ext cx="466991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Applications that conflict when they share one server</a:t>
            </a:r>
            <a:endParaRPr lang="en-US" sz="1600" dirty="0"/>
          </a:p>
        </p:txBody>
      </p:sp>
      <p:sp>
        <p:nvSpPr>
          <p:cNvPr id="12" name="Shape 10"/>
          <p:cNvSpPr/>
          <p:nvPr/>
        </p:nvSpPr>
        <p:spPr>
          <a:xfrm>
            <a:off x="6673850" y="3824883"/>
            <a:ext cx="0" cy="284427"/>
          </a:xfrm>
          <a:prstGeom prst="line">
            <a:avLst/>
          </a:prstGeom>
          <a:noFill/>
          <a:ln w="38100">
            <a:solidFill>
              <a:srgbClr val="1D63ED"/>
            </a:solidFill>
            <a:prstDash val="solid"/>
          </a:ln>
        </p:spPr>
      </p:sp>
      <p:sp>
        <p:nvSpPr>
          <p:cNvPr id="13" name="Text 11"/>
          <p:cNvSpPr/>
          <p:nvPr/>
        </p:nvSpPr>
        <p:spPr>
          <a:xfrm>
            <a:off x="6845300" y="3824883"/>
            <a:ext cx="466991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Slow onboarding for new team members</a:t>
            </a:r>
            <a:endParaRPr lang="en-US" sz="16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What is containerization</a:t>
            </a:r>
            <a:endParaRPr lang="en-US" sz="3200" dirty="0"/>
          </a:p>
        </p:txBody>
      </p:sp>
      <p:sp>
        <p:nvSpPr>
          <p:cNvPr id="3" name="Text 1"/>
          <p:cNvSpPr/>
          <p:nvPr/>
        </p:nvSpPr>
        <p:spPr>
          <a:xfrm>
            <a:off x="812800" y="1584920"/>
            <a:ext cx="1088339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2A43"/>
                </a:solidFill>
                <a:latin typeface="Arial" pitchFamily="34" charset="0"/>
                <a:ea typeface="Arial" pitchFamily="34" charset="-122"/>
                <a:cs typeface="Arial" pitchFamily="34" charset="-120"/>
              </a:rPr>
              <a:t>Containerization packages an application together with its libraries, dependencies and configuration into a single, portable unit called a container.</a:t>
            </a:r>
            <a:endParaRPr lang="en-US" sz="1800" dirty="0"/>
          </a:p>
        </p:txBody>
      </p:sp>
      <p:sp>
        <p:nvSpPr>
          <p:cNvPr id="4" name="Shape 2"/>
          <p:cNvSpPr/>
          <p:nvPr/>
        </p:nvSpPr>
        <p:spPr>
          <a:xfrm>
            <a:off x="815975" y="2532923"/>
            <a:ext cx="3380317" cy="1881651"/>
          </a:xfrm>
          <a:prstGeom prst="roundRect">
            <a:avLst>
              <a:gd name="adj" fmla="val 5231"/>
            </a:avLst>
          </a:prstGeom>
          <a:solidFill>
            <a:srgbClr val="F3F6FA"/>
          </a:solidFill>
          <a:ln w="6350">
            <a:solidFill>
              <a:srgbClr val="D6E0EC"/>
            </a:solidFill>
            <a:prstDash val="solid"/>
          </a:ln>
        </p:spPr>
      </p:sp>
      <p:sp>
        <p:nvSpPr>
          <p:cNvPr id="5" name="Text 3"/>
          <p:cNvSpPr/>
          <p:nvPr/>
        </p:nvSpPr>
        <p:spPr>
          <a:xfrm>
            <a:off x="1071033" y="2787982"/>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63ED"/>
                </a:solidFill>
                <a:latin typeface="Arial" pitchFamily="34" charset="0"/>
                <a:ea typeface="Arial" pitchFamily="34" charset="-122"/>
                <a:cs typeface="Arial" pitchFamily="34" charset="-120"/>
              </a:rPr>
              <a:t>Isolated</a:t>
            </a:r>
            <a:endParaRPr lang="en-US" sz="1800" dirty="0"/>
          </a:p>
        </p:txBody>
      </p:sp>
      <p:sp>
        <p:nvSpPr>
          <p:cNvPr id="6" name="Text 4"/>
          <p:cNvSpPr/>
          <p:nvPr/>
        </p:nvSpPr>
        <p:spPr>
          <a:xfrm>
            <a:off x="1071033" y="3163888"/>
            <a:ext cx="2956306"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Each container has its own filesystem, processes and network view, separate from other containers.</a:t>
            </a:r>
            <a:endParaRPr lang="en-US" sz="1400" dirty="0"/>
          </a:p>
        </p:txBody>
      </p:sp>
      <p:sp>
        <p:nvSpPr>
          <p:cNvPr id="7" name="Shape 5"/>
          <p:cNvSpPr/>
          <p:nvPr/>
        </p:nvSpPr>
        <p:spPr>
          <a:xfrm>
            <a:off x="4405842" y="2532923"/>
            <a:ext cx="3380317" cy="1881651"/>
          </a:xfrm>
          <a:prstGeom prst="roundRect">
            <a:avLst>
              <a:gd name="adj" fmla="val 5231"/>
            </a:avLst>
          </a:prstGeom>
          <a:solidFill>
            <a:srgbClr val="F3F6FA"/>
          </a:solidFill>
          <a:ln w="6350">
            <a:solidFill>
              <a:srgbClr val="D6E0EC"/>
            </a:solidFill>
            <a:prstDash val="solid"/>
          </a:ln>
        </p:spPr>
      </p:sp>
      <p:sp>
        <p:nvSpPr>
          <p:cNvPr id="8" name="Text 6"/>
          <p:cNvSpPr/>
          <p:nvPr/>
        </p:nvSpPr>
        <p:spPr>
          <a:xfrm>
            <a:off x="4660900" y="2787982"/>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63ED"/>
                </a:solidFill>
                <a:latin typeface="Arial" pitchFamily="34" charset="0"/>
                <a:ea typeface="Arial" pitchFamily="34" charset="-122"/>
                <a:cs typeface="Arial" pitchFamily="34" charset="-120"/>
              </a:rPr>
              <a:t>Portable</a:t>
            </a:r>
            <a:endParaRPr lang="en-US" sz="1800" dirty="0"/>
          </a:p>
        </p:txBody>
      </p:sp>
      <p:sp>
        <p:nvSpPr>
          <p:cNvPr id="9" name="Text 7"/>
          <p:cNvSpPr/>
          <p:nvPr/>
        </p:nvSpPr>
        <p:spPr>
          <a:xfrm>
            <a:off x="4660900" y="3163888"/>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The same container runs on a laptop, a test server or a cloud platform without changes.</a:t>
            </a:r>
            <a:endParaRPr lang="en-US" sz="1400" dirty="0"/>
          </a:p>
        </p:txBody>
      </p:sp>
      <p:sp>
        <p:nvSpPr>
          <p:cNvPr id="10" name="Shape 8"/>
          <p:cNvSpPr/>
          <p:nvPr/>
        </p:nvSpPr>
        <p:spPr>
          <a:xfrm>
            <a:off x="7995709" y="2532923"/>
            <a:ext cx="3380317" cy="1881651"/>
          </a:xfrm>
          <a:prstGeom prst="roundRect">
            <a:avLst>
              <a:gd name="adj" fmla="val 5231"/>
            </a:avLst>
          </a:prstGeom>
          <a:solidFill>
            <a:srgbClr val="F3F6FA"/>
          </a:solidFill>
          <a:ln w="6350">
            <a:solidFill>
              <a:srgbClr val="D6E0EC"/>
            </a:solidFill>
            <a:prstDash val="solid"/>
          </a:ln>
        </p:spPr>
      </p:sp>
      <p:sp>
        <p:nvSpPr>
          <p:cNvPr id="11" name="Text 9"/>
          <p:cNvSpPr/>
          <p:nvPr/>
        </p:nvSpPr>
        <p:spPr>
          <a:xfrm>
            <a:off x="8250767" y="2787982"/>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63ED"/>
                </a:solidFill>
                <a:latin typeface="Arial" pitchFamily="34" charset="0"/>
                <a:ea typeface="Arial" pitchFamily="34" charset="-122"/>
                <a:cs typeface="Arial" pitchFamily="34" charset="-120"/>
              </a:rPr>
              <a:t>Lightweight</a:t>
            </a:r>
            <a:endParaRPr lang="en-US" sz="1800" dirty="0"/>
          </a:p>
        </p:txBody>
      </p:sp>
      <p:sp>
        <p:nvSpPr>
          <p:cNvPr id="12" name="Text 10"/>
          <p:cNvSpPr/>
          <p:nvPr/>
        </p:nvSpPr>
        <p:spPr>
          <a:xfrm>
            <a:off x="8250767" y="3163888"/>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Containers share the host operating system kernel, so they start quickly and use fewer resources.</a:t>
            </a:r>
            <a:endParaRPr lang="en-US" sz="14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Containers compared with virtual machines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3075384"/>
        </p:xfrm>
        <a:graphic>
          <a:graphicData uri="http://schemas.openxmlformats.org/drawingml/2006/table">
            <a:tbl>
              <a:tblPr/>
              <a:tblGrid>
                <a:gridCol w="2532888"/>
                <a:gridCol w="4010406"/>
                <a:gridCol w="4010406"/>
              </a:tblGrid>
              <a:tr h="439341">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Aspect</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Virtual machine</a:t>
                      </a:r>
                      <a:endParaRPr lang="en-US" sz="1600" dirty="0">
                        <a:latin typeface="Arial" charset="0"/>
                        <a:ea typeface="Arial" charset="0"/>
                        <a:cs typeface="Arial" charset="0"/>
                      </a:endParaRPr>
                    </a:p>
                  </a:txBody>
                  <a:tcPr marL="71120" marR="71120" marT="71120" marB="71120" anchor="t">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Container</a:t>
                      </a:r>
                      <a:endParaRPr lang="en-US" sz="1600" dirty="0">
                        <a:latin typeface="Arial" charset="0"/>
                        <a:ea typeface="Arial" charset="0"/>
                        <a:cs typeface="Arial" charset="0"/>
                      </a:endParaRPr>
                    </a:p>
                  </a:txBody>
                  <a:tcPr marL="71120" marR="71120" marT="71120" marB="71120" anchor="t">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r>
              <a:tr h="439341">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Isolation</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Full guest operating system</a:t>
                      </a:r>
                      <a:endParaRPr lang="en-US" sz="1600" dirty="0">
                        <a:latin typeface="Arial" charset="0"/>
                        <a:ea typeface="Arial" charset="0"/>
                        <a:cs typeface="Arial" charset="0"/>
                      </a:endParaRPr>
                    </a:p>
                  </a:txBody>
                  <a:tcPr marL="71120" marR="71120" marT="71120" marB="71120" anchor="t">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Process-level, shared kernel</a:t>
                      </a:r>
                      <a:endParaRPr lang="en-US" sz="1600" dirty="0">
                        <a:latin typeface="Arial" charset="0"/>
                        <a:ea typeface="Arial" charset="0"/>
                        <a:cs typeface="Arial" charset="0"/>
                      </a:endParaRPr>
                    </a:p>
                  </a:txBody>
                  <a:tcPr marL="71120" marR="71120" marT="71120" marB="71120" anchor="t">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r>
              <a:tr h="439341">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Startup time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Minutes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Seconds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9341">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Size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Gigabytes</a:t>
                      </a:r>
                      <a:endParaRPr lang="en-US" sz="1600" dirty="0">
                        <a:latin typeface="Arial" charset="0"/>
                        <a:ea typeface="Arial" charset="0"/>
                        <a:cs typeface="Arial" charset="0"/>
                      </a:endParaRPr>
                    </a:p>
                  </a:txBody>
                  <a:tcPr marL="71120" marR="71120" marT="71120" marB="71120" anchor="t">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Megabytes</a:t>
                      </a:r>
                      <a:endParaRPr lang="en-US" sz="1600" dirty="0">
                        <a:latin typeface="Arial" charset="0"/>
                        <a:ea typeface="Arial" charset="0"/>
                        <a:cs typeface="Arial" charset="0"/>
                      </a:endParaRPr>
                    </a:p>
                  </a:txBody>
                  <a:tcPr marL="71120" marR="71120" marT="71120" marB="71120" anchor="t">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r>
              <a:tr h="439341">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Overhead</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Higher</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Low</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9341">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Density</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Fewer per host</a:t>
                      </a:r>
                      <a:endParaRPr lang="en-US" sz="1600" dirty="0">
                        <a:latin typeface="Arial" charset="0"/>
                        <a:ea typeface="Arial" charset="0"/>
                        <a:cs typeface="Arial" charset="0"/>
                      </a:endParaRPr>
                    </a:p>
                  </a:txBody>
                  <a:tcPr marL="71120" marR="71120" marT="71120" marB="71120" anchor="t">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More per host</a:t>
                      </a:r>
                      <a:endParaRPr lang="en-US" sz="1600" dirty="0">
                        <a:latin typeface="Arial" charset="0"/>
                        <a:ea typeface="Arial" charset="0"/>
                        <a:cs typeface="Arial" charset="0"/>
                      </a:endParaRPr>
                    </a:p>
                  </a:txBody>
                  <a:tcPr marL="71120" marR="71120" marT="71120" marB="71120" anchor="t">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r>
              <a:tr h="439341">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Best for</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Different operating systems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0F2A43"/>
                          </a:solidFill>
                          <a:latin typeface="Arial" pitchFamily="34" charset="0"/>
                          <a:ea typeface="Arial" pitchFamily="34" charset="-122"/>
                          <a:cs typeface="Arial" pitchFamily="34" charset="-120"/>
                        </a:rPr>
                        <a:t>Packaging applications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Docker components</a:t>
            </a:r>
            <a:endParaRPr lang="en-US" sz="3200" dirty="0"/>
          </a:p>
        </p:txBody>
      </p:sp>
      <p:sp>
        <p:nvSpPr>
          <p:cNvPr id="3" name="Shape 1"/>
          <p:cNvSpPr/>
          <p:nvPr/>
        </p:nvSpPr>
        <p:spPr>
          <a:xfrm>
            <a:off x="815975" y="1588095"/>
            <a:ext cx="1984970" cy="2204112"/>
          </a:xfrm>
          <a:prstGeom prst="roundRect">
            <a:avLst>
              <a:gd name="adj" fmla="val 4959"/>
            </a:avLst>
          </a:prstGeom>
          <a:solidFill>
            <a:srgbClr val="F3F6FA"/>
          </a:solidFill>
          <a:ln w="6350">
            <a:solidFill>
              <a:srgbClr val="D6E0EC"/>
            </a:solidFill>
            <a:prstDash val="solid"/>
          </a:ln>
        </p:spPr>
      </p:sp>
      <p:sp>
        <p:nvSpPr>
          <p:cNvPr id="4" name="Text 2"/>
          <p:cNvSpPr/>
          <p:nvPr/>
        </p:nvSpPr>
        <p:spPr>
          <a:xfrm>
            <a:off x="1020233" y="1792356"/>
            <a:ext cx="16272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01</a:t>
            </a:r>
            <a:endParaRPr lang="en-US" sz="1200" dirty="0"/>
          </a:p>
        </p:txBody>
      </p:sp>
      <p:sp>
        <p:nvSpPr>
          <p:cNvPr id="5" name="Text 3"/>
          <p:cNvSpPr/>
          <p:nvPr/>
        </p:nvSpPr>
        <p:spPr>
          <a:xfrm>
            <a:off x="1020233" y="2081876"/>
            <a:ext cx="162725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Client</a:t>
            </a:r>
            <a:endParaRPr lang="en-US" sz="1800" dirty="0"/>
          </a:p>
        </p:txBody>
      </p:sp>
      <p:sp>
        <p:nvSpPr>
          <p:cNvPr id="6" name="Text 4"/>
          <p:cNvSpPr/>
          <p:nvPr/>
        </p:nvSpPr>
        <p:spPr>
          <a:xfrm>
            <a:off x="1020233" y="2432382"/>
            <a:ext cx="1627254"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F63"/>
                </a:solidFill>
                <a:latin typeface="Arial" pitchFamily="34" charset="0"/>
                <a:ea typeface="Arial" pitchFamily="34" charset="-122"/>
                <a:cs typeface="Arial" pitchFamily="34" charset="-120"/>
              </a:rPr>
              <a:t>The docker command line tool. It sends build, pull and run commands to the daemon.</a:t>
            </a:r>
            <a:endParaRPr lang="en-US" sz="1300" dirty="0"/>
          </a:p>
        </p:txBody>
      </p:sp>
      <p:sp>
        <p:nvSpPr>
          <p:cNvPr id="7" name="Shape 5"/>
          <p:cNvSpPr/>
          <p:nvPr/>
        </p:nvSpPr>
        <p:spPr>
          <a:xfrm>
            <a:off x="2959695" y="1588095"/>
            <a:ext cx="1985037" cy="2204112"/>
          </a:xfrm>
          <a:prstGeom prst="roundRect">
            <a:avLst>
              <a:gd name="adj" fmla="val 4958"/>
            </a:avLst>
          </a:prstGeom>
          <a:solidFill>
            <a:srgbClr val="F3F6FA"/>
          </a:solidFill>
          <a:ln w="6350">
            <a:solidFill>
              <a:srgbClr val="D6E0EC"/>
            </a:solidFill>
            <a:prstDash val="solid"/>
          </a:ln>
        </p:spPr>
      </p:sp>
      <p:sp>
        <p:nvSpPr>
          <p:cNvPr id="8" name="Text 6"/>
          <p:cNvSpPr/>
          <p:nvPr/>
        </p:nvSpPr>
        <p:spPr>
          <a:xfrm>
            <a:off x="3163954" y="1792356"/>
            <a:ext cx="16273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3163954" y="2081876"/>
            <a:ext cx="162732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Daemon</a:t>
            </a:r>
            <a:endParaRPr lang="en-US" sz="1800" dirty="0"/>
          </a:p>
        </p:txBody>
      </p:sp>
      <p:sp>
        <p:nvSpPr>
          <p:cNvPr id="10" name="Text 8"/>
          <p:cNvSpPr/>
          <p:nvPr/>
        </p:nvSpPr>
        <p:spPr>
          <a:xfrm>
            <a:off x="3163954" y="2432382"/>
            <a:ext cx="1627320"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F63"/>
                </a:solidFill>
                <a:latin typeface="Arial" pitchFamily="34" charset="0"/>
                <a:ea typeface="Arial" pitchFamily="34" charset="-122"/>
                <a:cs typeface="Arial" pitchFamily="34" charset="-120"/>
              </a:rPr>
              <a:t>The dockerd background service. It builds images and creates and manages containers.</a:t>
            </a:r>
            <a:endParaRPr lang="en-US" sz="1300" dirty="0"/>
          </a:p>
        </p:txBody>
      </p:sp>
      <p:sp>
        <p:nvSpPr>
          <p:cNvPr id="11" name="Shape 9"/>
          <p:cNvSpPr/>
          <p:nvPr/>
        </p:nvSpPr>
        <p:spPr>
          <a:xfrm>
            <a:off x="5103482" y="1588095"/>
            <a:ext cx="1984970" cy="2204112"/>
          </a:xfrm>
          <a:prstGeom prst="roundRect">
            <a:avLst>
              <a:gd name="adj" fmla="val 4959"/>
            </a:avLst>
          </a:prstGeom>
          <a:solidFill>
            <a:srgbClr val="F3F6FA"/>
          </a:solidFill>
          <a:ln w="6350">
            <a:solidFill>
              <a:srgbClr val="D6E0EC"/>
            </a:solidFill>
            <a:prstDash val="solid"/>
          </a:ln>
        </p:spPr>
      </p:sp>
      <p:sp>
        <p:nvSpPr>
          <p:cNvPr id="12" name="Text 10"/>
          <p:cNvSpPr/>
          <p:nvPr/>
        </p:nvSpPr>
        <p:spPr>
          <a:xfrm>
            <a:off x="5307740" y="1792356"/>
            <a:ext cx="16272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5307740" y="2081876"/>
            <a:ext cx="162725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Images</a:t>
            </a:r>
            <a:endParaRPr lang="en-US" sz="1800" dirty="0"/>
          </a:p>
        </p:txBody>
      </p:sp>
      <p:sp>
        <p:nvSpPr>
          <p:cNvPr id="14" name="Text 12"/>
          <p:cNvSpPr/>
          <p:nvPr/>
        </p:nvSpPr>
        <p:spPr>
          <a:xfrm>
            <a:off x="5307740" y="2432382"/>
            <a:ext cx="1627254"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F63"/>
                </a:solidFill>
                <a:latin typeface="Arial" pitchFamily="34" charset="0"/>
                <a:ea typeface="Arial" pitchFamily="34" charset="-122"/>
                <a:cs typeface="Arial" pitchFamily="34" charset="-120"/>
              </a:rPr>
              <a:t>Read-only templates that hold an application and its dependencies.</a:t>
            </a:r>
            <a:endParaRPr lang="en-US" sz="1300" dirty="0"/>
          </a:p>
        </p:txBody>
      </p:sp>
      <p:sp>
        <p:nvSpPr>
          <p:cNvPr id="15" name="Shape 13"/>
          <p:cNvSpPr/>
          <p:nvPr/>
        </p:nvSpPr>
        <p:spPr>
          <a:xfrm>
            <a:off x="7247203" y="1588095"/>
            <a:ext cx="1985037" cy="2204112"/>
          </a:xfrm>
          <a:prstGeom prst="roundRect">
            <a:avLst>
              <a:gd name="adj" fmla="val 4958"/>
            </a:avLst>
          </a:prstGeom>
          <a:solidFill>
            <a:srgbClr val="F3F6FA"/>
          </a:solidFill>
          <a:ln w="6350">
            <a:solidFill>
              <a:srgbClr val="D6E0EC"/>
            </a:solidFill>
            <a:prstDash val="solid"/>
          </a:ln>
        </p:spPr>
      </p:sp>
      <p:sp>
        <p:nvSpPr>
          <p:cNvPr id="16" name="Text 14"/>
          <p:cNvSpPr/>
          <p:nvPr/>
        </p:nvSpPr>
        <p:spPr>
          <a:xfrm>
            <a:off x="7451461" y="1792356"/>
            <a:ext cx="16273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04</a:t>
            </a:r>
            <a:endParaRPr lang="en-US" sz="1200" dirty="0"/>
          </a:p>
        </p:txBody>
      </p:sp>
      <p:sp>
        <p:nvSpPr>
          <p:cNvPr id="17" name="Text 15"/>
          <p:cNvSpPr/>
          <p:nvPr/>
        </p:nvSpPr>
        <p:spPr>
          <a:xfrm>
            <a:off x="7451461" y="2081876"/>
            <a:ext cx="162732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Containers</a:t>
            </a:r>
            <a:endParaRPr lang="en-US" sz="1800" dirty="0"/>
          </a:p>
        </p:txBody>
      </p:sp>
      <p:sp>
        <p:nvSpPr>
          <p:cNvPr id="18" name="Text 16"/>
          <p:cNvSpPr/>
          <p:nvPr/>
        </p:nvSpPr>
        <p:spPr>
          <a:xfrm>
            <a:off x="7451461" y="2432382"/>
            <a:ext cx="1627320"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F63"/>
                </a:solidFill>
                <a:latin typeface="Arial" pitchFamily="34" charset="0"/>
                <a:ea typeface="Arial" pitchFamily="34" charset="-122"/>
                <a:cs typeface="Arial" pitchFamily="34" charset="-120"/>
              </a:rPr>
              <a:t>Running instances of images, isolated from each other and from the host.</a:t>
            </a:r>
            <a:endParaRPr lang="en-US" sz="1300" dirty="0"/>
          </a:p>
        </p:txBody>
      </p:sp>
      <p:sp>
        <p:nvSpPr>
          <p:cNvPr id="19" name="Shape 17"/>
          <p:cNvSpPr/>
          <p:nvPr/>
        </p:nvSpPr>
        <p:spPr>
          <a:xfrm>
            <a:off x="9390989" y="1588095"/>
            <a:ext cx="1985037" cy="2204112"/>
          </a:xfrm>
          <a:prstGeom prst="roundRect">
            <a:avLst>
              <a:gd name="adj" fmla="val 4958"/>
            </a:avLst>
          </a:prstGeom>
          <a:solidFill>
            <a:srgbClr val="F3F6FA"/>
          </a:solidFill>
          <a:ln w="6350">
            <a:solidFill>
              <a:srgbClr val="D6E0EC"/>
            </a:solidFill>
            <a:prstDash val="solid"/>
          </a:ln>
        </p:spPr>
      </p:sp>
      <p:sp>
        <p:nvSpPr>
          <p:cNvPr id="20" name="Text 18"/>
          <p:cNvSpPr/>
          <p:nvPr/>
        </p:nvSpPr>
        <p:spPr>
          <a:xfrm>
            <a:off x="9595247" y="1792356"/>
            <a:ext cx="16273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05</a:t>
            </a:r>
            <a:endParaRPr lang="en-US" sz="1200" dirty="0"/>
          </a:p>
        </p:txBody>
      </p:sp>
      <p:sp>
        <p:nvSpPr>
          <p:cNvPr id="21" name="Text 19"/>
          <p:cNvSpPr/>
          <p:nvPr/>
        </p:nvSpPr>
        <p:spPr>
          <a:xfrm>
            <a:off x="9595247" y="2081876"/>
            <a:ext cx="162732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Arial" pitchFamily="34" charset="0"/>
                <a:ea typeface="Arial" pitchFamily="34" charset="-122"/>
                <a:cs typeface="Arial" pitchFamily="34" charset="-120"/>
              </a:rPr>
              <a:t>Registry</a:t>
            </a:r>
            <a:endParaRPr lang="en-US" sz="1800" dirty="0"/>
          </a:p>
        </p:txBody>
      </p:sp>
      <p:sp>
        <p:nvSpPr>
          <p:cNvPr id="22" name="Text 20"/>
          <p:cNvSpPr/>
          <p:nvPr/>
        </p:nvSpPr>
        <p:spPr>
          <a:xfrm>
            <a:off x="9595247" y="2432382"/>
            <a:ext cx="1627320"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F63"/>
                </a:solidFill>
                <a:latin typeface="Arial" pitchFamily="34" charset="0"/>
                <a:ea typeface="Arial" pitchFamily="34" charset="-122"/>
                <a:cs typeface="Arial" pitchFamily="34" charset="-120"/>
              </a:rPr>
              <a:t>A service that stores and distributes images, such as Docker Hub.</a:t>
            </a:r>
            <a:endParaRPr lang="en-US" sz="1300" dirty="0"/>
          </a:p>
        </p:txBody>
      </p:sp>
      <p:sp>
        <p:nvSpPr>
          <p:cNvPr id="23" name="Text 21"/>
          <p:cNvSpPr/>
          <p:nvPr/>
        </p:nvSpPr>
        <p:spPr>
          <a:xfrm>
            <a:off x="812800" y="4100184"/>
            <a:ext cx="10566400" cy="655307"/>
          </a:xfrm>
          <a:prstGeom prst="roundRect">
            <a:avLst>
              <a:gd name="adj" fmla="val 15504"/>
            </a:avLst>
          </a:prstGeom>
          <a:solidFill>
            <a:srgbClr val="0F2A43"/>
          </a:solidFill>
          <a:ln/>
        </p:spPr>
        <p:txBody>
          <a:bodyPr wrap="square" lIns="224242" tIns="173442" rIns="0" bIns="148042" rtlCol="0" anchor="t">
            <a:normAutofit/>
          </a:bodyPr>
          <a:lstStyle/>
          <a:p>
            <a:pPr algn="l" indent="0" marL="0">
              <a:lnSpc>
                <a:spcPts val="1960"/>
              </a:lnSpc>
              <a:buNone/>
            </a:pPr>
            <a:r>
              <a:rPr lang="en-US" sz="1400" dirty="0">
                <a:solidFill>
                  <a:srgbClr val="FFFFFF"/>
                </a:solidFill>
                <a:latin typeface="Arial" pitchFamily="34" charset="0"/>
                <a:ea typeface="Arial" pitchFamily="34" charset="-122"/>
                <a:cs typeface="Arial" pitchFamily="34" charset="-120"/>
              </a:rPr>
              <a:t>Typical flow: the client sends a command, the daemon builds or runs it, and images are pulled from or pushed to a registry.</a:t>
            </a:r>
            <a:endParaRPr lang="en-US" sz="1400" dirty="0"/>
          </a:p>
        </p:txBody>
      </p:sp>
      <p:sp>
        <p:nvSpPr>
          <p:cNvPr id="24"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Docker images</a:t>
            </a:r>
            <a:endParaRPr lang="en-US" sz="3200" dirty="0"/>
          </a:p>
        </p:txBody>
      </p:sp>
      <p:sp>
        <p:nvSpPr>
          <p:cNvPr id="3" name="Shape 1"/>
          <p:cNvSpPr/>
          <p:nvPr/>
        </p:nvSpPr>
        <p:spPr>
          <a:xfrm>
            <a:off x="831850" y="2407909"/>
            <a:ext cx="0" cy="284427"/>
          </a:xfrm>
          <a:prstGeom prst="line">
            <a:avLst/>
          </a:prstGeom>
          <a:noFill/>
          <a:ln w="38100">
            <a:solidFill>
              <a:srgbClr val="1D63ED"/>
            </a:solidFill>
            <a:prstDash val="solid"/>
          </a:ln>
        </p:spPr>
      </p:sp>
      <p:sp>
        <p:nvSpPr>
          <p:cNvPr id="4" name="Text 2"/>
          <p:cNvSpPr/>
          <p:nvPr/>
        </p:nvSpPr>
        <p:spPr>
          <a:xfrm>
            <a:off x="1003300" y="2407909"/>
            <a:ext cx="608266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A read-only template used to create containers</a:t>
            </a:r>
            <a:endParaRPr lang="en-US" sz="1600" dirty="0"/>
          </a:p>
        </p:txBody>
      </p:sp>
      <p:sp>
        <p:nvSpPr>
          <p:cNvPr id="5" name="Shape 3"/>
          <p:cNvSpPr/>
          <p:nvPr/>
        </p:nvSpPr>
        <p:spPr>
          <a:xfrm>
            <a:off x="831850" y="2870135"/>
            <a:ext cx="0" cy="284427"/>
          </a:xfrm>
          <a:prstGeom prst="line">
            <a:avLst/>
          </a:prstGeom>
          <a:noFill/>
          <a:ln w="38100">
            <a:solidFill>
              <a:srgbClr val="1D63ED"/>
            </a:solidFill>
            <a:prstDash val="solid"/>
          </a:ln>
        </p:spPr>
      </p:sp>
      <p:sp>
        <p:nvSpPr>
          <p:cNvPr id="6" name="Text 4"/>
          <p:cNvSpPr/>
          <p:nvPr/>
        </p:nvSpPr>
        <p:spPr>
          <a:xfrm>
            <a:off x="1003300" y="2870135"/>
            <a:ext cx="608266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Built from layers, one for each Dockerfile instruction</a:t>
            </a:r>
            <a:endParaRPr lang="en-US" sz="1600" dirty="0"/>
          </a:p>
        </p:txBody>
      </p:sp>
      <p:sp>
        <p:nvSpPr>
          <p:cNvPr id="7" name="Shape 5"/>
          <p:cNvSpPr/>
          <p:nvPr/>
        </p:nvSpPr>
        <p:spPr>
          <a:xfrm>
            <a:off x="831850" y="3332361"/>
            <a:ext cx="0" cy="568854"/>
          </a:xfrm>
          <a:prstGeom prst="line">
            <a:avLst/>
          </a:prstGeom>
          <a:noFill/>
          <a:ln w="38100">
            <a:solidFill>
              <a:srgbClr val="1D63ED"/>
            </a:solidFill>
            <a:prstDash val="solid"/>
          </a:ln>
        </p:spPr>
      </p:sp>
      <p:sp>
        <p:nvSpPr>
          <p:cNvPr id="8" name="Text 6"/>
          <p:cNvSpPr/>
          <p:nvPr/>
        </p:nvSpPr>
        <p:spPr>
          <a:xfrm>
            <a:off x="1003300" y="3332361"/>
            <a:ext cx="608266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Layers are cached and shared, which speeds up builds and saves disk space</a:t>
            </a:r>
            <a:endParaRPr lang="en-US" sz="1600" dirty="0"/>
          </a:p>
        </p:txBody>
      </p:sp>
      <p:sp>
        <p:nvSpPr>
          <p:cNvPr id="9" name="Shape 7"/>
          <p:cNvSpPr/>
          <p:nvPr/>
        </p:nvSpPr>
        <p:spPr>
          <a:xfrm>
            <a:off x="831850" y="4079016"/>
            <a:ext cx="0" cy="284427"/>
          </a:xfrm>
          <a:prstGeom prst="line">
            <a:avLst/>
          </a:prstGeom>
          <a:noFill/>
          <a:ln w="38100">
            <a:solidFill>
              <a:srgbClr val="1D63ED"/>
            </a:solidFill>
            <a:prstDash val="solid"/>
          </a:ln>
        </p:spPr>
      </p:sp>
      <p:sp>
        <p:nvSpPr>
          <p:cNvPr id="10" name="Text 8"/>
          <p:cNvSpPr/>
          <p:nvPr/>
        </p:nvSpPr>
        <p:spPr>
          <a:xfrm>
            <a:off x="1003300" y="4079016"/>
            <a:ext cx="608266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Identified by a name and a tag, for example python:3.12-slim</a:t>
            </a:r>
            <a:endParaRPr lang="en-US" sz="1600" dirty="0"/>
          </a:p>
        </p:txBody>
      </p:sp>
      <p:sp>
        <p:nvSpPr>
          <p:cNvPr id="11" name="Text 9"/>
          <p:cNvSpPr/>
          <p:nvPr/>
        </p:nvSpPr>
        <p:spPr>
          <a:xfrm>
            <a:off x="7321550" y="1591270"/>
            <a:ext cx="4051300" cy="566407"/>
          </a:xfrm>
          <a:prstGeom prst="roundRect">
            <a:avLst>
              <a:gd name="adj" fmla="val 12332"/>
            </a:avLst>
          </a:prstGeom>
          <a:solidFill>
            <a:srgbClr val="FFFFFF"/>
          </a:solidFill>
          <a:ln w="12700">
            <a:solidFill>
              <a:srgbClr val="1D63ED"/>
            </a:solidFill>
            <a:prstDash val="dash"/>
          </a:ln>
        </p:spPr>
        <p:txBody>
          <a:bodyPr wrap="square" lIns="189092" tIns="138292" rIns="80126" bIns="112892" rtlCol="0" anchor="t">
            <a:normAutofit/>
          </a:bodyPr>
          <a:lstStyle/>
          <a:p>
            <a:pPr algn="l" indent="0" marL="0">
              <a:lnSpc>
                <a:spcPts val="1960"/>
              </a:lnSpc>
              <a:buNone/>
            </a:pPr>
            <a:r>
              <a:rPr lang="en-US" sz="1400" b="1" dirty="0">
                <a:solidFill>
                  <a:srgbClr val="1D63ED"/>
                </a:solidFill>
                <a:latin typeface="Arial" pitchFamily="34" charset="0"/>
                <a:ea typeface="Arial" pitchFamily="34" charset="-122"/>
                <a:cs typeface="Arial" pitchFamily="34" charset="-120"/>
              </a:rPr>
              <a:t>Writable container layer</a:t>
            </a:r>
            <a:endParaRPr lang="en-US" sz="1400" dirty="0"/>
          </a:p>
        </p:txBody>
      </p:sp>
      <p:sp>
        <p:nvSpPr>
          <p:cNvPr id="12" name="Text 10"/>
          <p:cNvSpPr/>
          <p:nvPr/>
        </p:nvSpPr>
        <p:spPr>
          <a:xfrm>
            <a:off x="7315200" y="2240229"/>
            <a:ext cx="4064000" cy="553707"/>
          </a:xfrm>
          <a:prstGeom prst="roundRect">
            <a:avLst>
              <a:gd name="adj" fmla="val 13762"/>
            </a:avLst>
          </a:prstGeom>
          <a:solidFill>
            <a:srgbClr val="1D63ED"/>
          </a:solidFill>
          <a:ln/>
        </p:spPr>
        <p:txBody>
          <a:bodyPr wrap="square" lIns="180882" tIns="130082" rIns="71154" bIns="104682"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Application code</a:t>
            </a:r>
            <a:endParaRPr lang="en-US" sz="1400" dirty="0"/>
          </a:p>
        </p:txBody>
      </p:sp>
      <p:sp>
        <p:nvSpPr>
          <p:cNvPr id="13" name="Text 11"/>
          <p:cNvSpPr/>
          <p:nvPr/>
        </p:nvSpPr>
        <p:spPr>
          <a:xfrm>
            <a:off x="7315200" y="2870135"/>
            <a:ext cx="4064000" cy="553707"/>
          </a:xfrm>
          <a:prstGeom prst="roundRect">
            <a:avLst>
              <a:gd name="adj" fmla="val 13762"/>
            </a:avLst>
          </a:prstGeom>
          <a:solidFill>
            <a:srgbClr val="8FB2F7"/>
          </a:solidFill>
          <a:ln/>
        </p:spPr>
        <p:txBody>
          <a:bodyPr wrap="square" lIns="180882" tIns="130082" rIns="71154" bIns="104682"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Dependencies</a:t>
            </a:r>
            <a:endParaRPr lang="en-US" sz="1400" dirty="0"/>
          </a:p>
        </p:txBody>
      </p:sp>
      <p:sp>
        <p:nvSpPr>
          <p:cNvPr id="14" name="Text 12"/>
          <p:cNvSpPr/>
          <p:nvPr/>
        </p:nvSpPr>
        <p:spPr>
          <a:xfrm>
            <a:off x="7315200" y="3500041"/>
            <a:ext cx="4064000" cy="553707"/>
          </a:xfrm>
          <a:prstGeom prst="roundRect">
            <a:avLst>
              <a:gd name="adj" fmla="val 13762"/>
            </a:avLst>
          </a:prstGeom>
          <a:solidFill>
            <a:srgbClr val="C9DAFB"/>
          </a:solidFill>
          <a:ln/>
        </p:spPr>
        <p:txBody>
          <a:bodyPr wrap="square" lIns="180882" tIns="130082" rIns="71154" bIns="104682"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Language runtime</a:t>
            </a:r>
            <a:endParaRPr lang="en-US" sz="1400" dirty="0"/>
          </a:p>
        </p:txBody>
      </p:sp>
      <p:sp>
        <p:nvSpPr>
          <p:cNvPr id="15" name="Text 13"/>
          <p:cNvSpPr/>
          <p:nvPr/>
        </p:nvSpPr>
        <p:spPr>
          <a:xfrm>
            <a:off x="7315200" y="4129949"/>
            <a:ext cx="4064000" cy="553707"/>
          </a:xfrm>
          <a:prstGeom prst="roundRect">
            <a:avLst>
              <a:gd name="adj" fmla="val 13762"/>
            </a:avLst>
          </a:prstGeom>
          <a:solidFill>
            <a:srgbClr val="E3ECFD"/>
          </a:solidFill>
          <a:ln/>
        </p:spPr>
        <p:txBody>
          <a:bodyPr wrap="square" lIns="180882" tIns="130082" rIns="71154" bIns="104682"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Base operating system layer</a:t>
            </a:r>
            <a:endParaRPr lang="en-US" sz="1400" dirty="0"/>
          </a:p>
        </p:txBody>
      </p:sp>
      <p:sp>
        <p:nvSpPr>
          <p:cNvPr id="16" name="Text 14"/>
          <p:cNvSpPr/>
          <p:nvPr/>
        </p:nvSpPr>
        <p:spPr>
          <a:xfrm>
            <a:off x="7315200" y="4759855"/>
            <a:ext cx="4185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Image layers are read-only. A running container adds one writable layer on top.</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From Dockerfile to running container</a:t>
            </a:r>
            <a:endParaRPr lang="en-US" sz="3200" dirty="0"/>
          </a:p>
        </p:txBody>
      </p:sp>
      <p:sp>
        <p:nvSpPr>
          <p:cNvPr id="3" name="Shape 1"/>
          <p:cNvSpPr/>
          <p:nvPr/>
        </p:nvSpPr>
        <p:spPr>
          <a:xfrm>
            <a:off x="815975" y="1588095"/>
            <a:ext cx="5433483" cy="3520678"/>
          </a:xfrm>
          <a:prstGeom prst="roundRect">
            <a:avLst>
              <a:gd name="adj" fmla="val 2796"/>
            </a:avLst>
          </a:prstGeom>
          <a:solidFill>
            <a:srgbClr val="F3F6FA"/>
          </a:solidFill>
          <a:ln w="6350">
            <a:solidFill>
              <a:srgbClr val="D6E0EC"/>
            </a:solidFill>
            <a:prstDash val="solid"/>
          </a:ln>
        </p:spPr>
      </p:sp>
      <p:sp>
        <p:nvSpPr>
          <p:cNvPr id="4" name="Text 2"/>
          <p:cNvSpPr/>
          <p:nvPr/>
        </p:nvSpPr>
        <p:spPr>
          <a:xfrm>
            <a:off x="1071033" y="1843156"/>
            <a:ext cx="50710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DOCKERFILE</a:t>
            </a:r>
            <a:endParaRPr lang="en-US" sz="1200" dirty="0"/>
          </a:p>
        </p:txBody>
      </p:sp>
      <p:sp>
        <p:nvSpPr>
          <p:cNvPr id="5" name="Text 3"/>
          <p:cNvSpPr/>
          <p:nvPr/>
        </p:nvSpPr>
        <p:spPr>
          <a:xfrm>
            <a:off x="1071033" y="2183476"/>
            <a:ext cx="5071068"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FROM node:20-slim</a:t>
            </a:r>
            <a:endParaRPr lang="en-US" sz="1300" dirty="0"/>
          </a:p>
        </p:txBody>
      </p:sp>
      <p:sp>
        <p:nvSpPr>
          <p:cNvPr id="6" name="Text 4"/>
          <p:cNvSpPr/>
          <p:nvPr/>
        </p:nvSpPr>
        <p:spPr>
          <a:xfrm>
            <a:off x="1071033" y="2464132"/>
            <a:ext cx="5071068"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WORKDIR /app</a:t>
            </a:r>
            <a:endParaRPr lang="en-US" sz="1300" dirty="0"/>
          </a:p>
        </p:txBody>
      </p:sp>
      <p:sp>
        <p:nvSpPr>
          <p:cNvPr id="7" name="Text 5"/>
          <p:cNvSpPr/>
          <p:nvPr/>
        </p:nvSpPr>
        <p:spPr>
          <a:xfrm>
            <a:off x="1071033" y="2744788"/>
            <a:ext cx="5071068"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COPY package*.json ./</a:t>
            </a:r>
            <a:endParaRPr lang="en-US" sz="1300" dirty="0"/>
          </a:p>
        </p:txBody>
      </p:sp>
      <p:sp>
        <p:nvSpPr>
          <p:cNvPr id="8" name="Text 6"/>
          <p:cNvSpPr/>
          <p:nvPr/>
        </p:nvSpPr>
        <p:spPr>
          <a:xfrm>
            <a:off x="1071033" y="3025446"/>
            <a:ext cx="5071068"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RUN npm install</a:t>
            </a:r>
            <a:endParaRPr lang="en-US" sz="1300" dirty="0"/>
          </a:p>
        </p:txBody>
      </p:sp>
      <p:sp>
        <p:nvSpPr>
          <p:cNvPr id="9" name="Text 7"/>
          <p:cNvSpPr/>
          <p:nvPr/>
        </p:nvSpPr>
        <p:spPr>
          <a:xfrm>
            <a:off x="1071033" y="3306102"/>
            <a:ext cx="5071068"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COPY . .</a:t>
            </a:r>
            <a:endParaRPr lang="en-US" sz="1300" dirty="0"/>
          </a:p>
        </p:txBody>
      </p:sp>
      <p:sp>
        <p:nvSpPr>
          <p:cNvPr id="10" name="Text 8"/>
          <p:cNvSpPr/>
          <p:nvPr/>
        </p:nvSpPr>
        <p:spPr>
          <a:xfrm>
            <a:off x="1071033" y="3586758"/>
            <a:ext cx="5071068"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CMD ["node", "server.js"]</a:t>
            </a:r>
            <a:endParaRPr lang="en-US" sz="1300" dirty="0"/>
          </a:p>
        </p:txBody>
      </p:sp>
      <p:sp>
        <p:nvSpPr>
          <p:cNvPr id="11" name="Text 9"/>
          <p:cNvSpPr/>
          <p:nvPr/>
        </p:nvSpPr>
        <p:spPr>
          <a:xfrm>
            <a:off x="1071033" y="3994417"/>
            <a:ext cx="507106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Each instruction adds a layer to the image.</a:t>
            </a:r>
            <a:endParaRPr lang="en-US" sz="1400" dirty="0"/>
          </a:p>
        </p:txBody>
      </p:sp>
      <p:sp>
        <p:nvSpPr>
          <p:cNvPr id="12" name="Shape 10"/>
          <p:cNvSpPr/>
          <p:nvPr/>
        </p:nvSpPr>
        <p:spPr>
          <a:xfrm>
            <a:off x="6459008" y="1588095"/>
            <a:ext cx="4917017" cy="1655564"/>
          </a:xfrm>
          <a:prstGeom prst="roundRect">
            <a:avLst>
              <a:gd name="adj" fmla="val 5945"/>
            </a:avLst>
          </a:prstGeom>
          <a:solidFill>
            <a:srgbClr val="F3F6FA"/>
          </a:solidFill>
          <a:ln w="6350">
            <a:solidFill>
              <a:srgbClr val="D6E0EC"/>
            </a:solidFill>
            <a:prstDash val="solid"/>
          </a:ln>
        </p:spPr>
      </p:sp>
      <p:sp>
        <p:nvSpPr>
          <p:cNvPr id="13" name="Text 11"/>
          <p:cNvSpPr/>
          <p:nvPr/>
        </p:nvSpPr>
        <p:spPr>
          <a:xfrm>
            <a:off x="6714067" y="1843156"/>
            <a:ext cx="45391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BUILD THE IMAGE</a:t>
            </a:r>
            <a:endParaRPr lang="en-US" sz="1200" dirty="0"/>
          </a:p>
        </p:txBody>
      </p:sp>
      <p:sp>
        <p:nvSpPr>
          <p:cNvPr id="14" name="Text 12"/>
          <p:cNvSpPr/>
          <p:nvPr/>
        </p:nvSpPr>
        <p:spPr>
          <a:xfrm>
            <a:off x="6714067" y="2158076"/>
            <a:ext cx="45391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2A43"/>
                </a:solidFill>
                <a:latin typeface="Courier New" pitchFamily="49" charset="0"/>
                <a:ea typeface="Courier New" pitchFamily="49" charset="-122"/>
                <a:cs typeface="Courier New" pitchFamily="49" charset="-120"/>
              </a:rPr>
              <a:t>docker build -t myapp .</a:t>
            </a:r>
            <a:endParaRPr lang="en-US" sz="1300" dirty="0"/>
          </a:p>
        </p:txBody>
      </p:sp>
      <p:sp>
        <p:nvSpPr>
          <p:cNvPr id="15" name="Text 13"/>
          <p:cNvSpPr/>
          <p:nvPr/>
        </p:nvSpPr>
        <p:spPr>
          <a:xfrm>
            <a:off x="6714067" y="2490788"/>
            <a:ext cx="4539107"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Creates an image from the Dockerfile in the current folder.</a:t>
            </a:r>
            <a:endParaRPr lang="en-US" sz="1400" dirty="0"/>
          </a:p>
        </p:txBody>
      </p:sp>
      <p:sp>
        <p:nvSpPr>
          <p:cNvPr id="16" name="Shape 14"/>
          <p:cNvSpPr/>
          <p:nvPr/>
        </p:nvSpPr>
        <p:spPr>
          <a:xfrm>
            <a:off x="6459008" y="3453209"/>
            <a:ext cx="4917017" cy="1655564"/>
          </a:xfrm>
          <a:prstGeom prst="roundRect">
            <a:avLst>
              <a:gd name="adj" fmla="val 5945"/>
            </a:avLst>
          </a:prstGeom>
          <a:solidFill>
            <a:srgbClr val="F3F6FA"/>
          </a:solidFill>
          <a:ln w="6350">
            <a:solidFill>
              <a:srgbClr val="D6E0EC"/>
            </a:solidFill>
            <a:prstDash val="solid"/>
          </a:ln>
        </p:spPr>
      </p:sp>
      <p:sp>
        <p:nvSpPr>
          <p:cNvPr id="17" name="Text 15"/>
          <p:cNvSpPr/>
          <p:nvPr/>
        </p:nvSpPr>
        <p:spPr>
          <a:xfrm>
            <a:off x="6714067" y="3708270"/>
            <a:ext cx="45391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RUN A CONTAINER</a:t>
            </a:r>
            <a:endParaRPr lang="en-US" sz="1200" dirty="0"/>
          </a:p>
        </p:txBody>
      </p:sp>
      <p:sp>
        <p:nvSpPr>
          <p:cNvPr id="18" name="Text 16"/>
          <p:cNvSpPr/>
          <p:nvPr/>
        </p:nvSpPr>
        <p:spPr>
          <a:xfrm>
            <a:off x="6714067" y="4023190"/>
            <a:ext cx="45391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2A43"/>
                </a:solidFill>
                <a:latin typeface="Courier New" pitchFamily="49" charset="0"/>
                <a:ea typeface="Courier New" pitchFamily="49" charset="-122"/>
                <a:cs typeface="Courier New" pitchFamily="49" charset="-120"/>
              </a:rPr>
              <a:t>docker run -d -p 8080:3000 myapp</a:t>
            </a:r>
            <a:endParaRPr lang="en-US" sz="1300" dirty="0"/>
          </a:p>
        </p:txBody>
      </p:sp>
      <p:sp>
        <p:nvSpPr>
          <p:cNvPr id="19" name="Text 17"/>
          <p:cNvSpPr/>
          <p:nvPr/>
        </p:nvSpPr>
        <p:spPr>
          <a:xfrm>
            <a:off x="6714067" y="4355902"/>
            <a:ext cx="4539107"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Starts a container in the background and maps port 8080 to port 3000.</a:t>
            </a:r>
            <a:endParaRPr lang="en-US" sz="14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Docker registry</a:t>
            </a:r>
            <a:endParaRPr lang="en-US" sz="3200" dirty="0"/>
          </a:p>
        </p:txBody>
      </p:sp>
      <p:sp>
        <p:nvSpPr>
          <p:cNvPr id="3" name="Text 1"/>
          <p:cNvSpPr/>
          <p:nvPr/>
        </p:nvSpPr>
        <p:spPr>
          <a:xfrm>
            <a:off x="812800" y="1584920"/>
            <a:ext cx="1088339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2A43"/>
                </a:solidFill>
                <a:latin typeface="Arial" pitchFamily="34" charset="0"/>
                <a:ea typeface="Arial" pitchFamily="34" charset="-122"/>
                <a:cs typeface="Arial" pitchFamily="34" charset="-120"/>
              </a:rPr>
              <a:t>A registry stores and distributes Docker images. Images live in repositories and are identified by tags.</a:t>
            </a:r>
            <a:endParaRPr lang="en-US" sz="1800" dirty="0"/>
          </a:p>
        </p:txBody>
      </p:sp>
      <p:sp>
        <p:nvSpPr>
          <p:cNvPr id="4" name="Shape 2"/>
          <p:cNvSpPr/>
          <p:nvPr/>
        </p:nvSpPr>
        <p:spPr>
          <a:xfrm>
            <a:off x="815975" y="2212913"/>
            <a:ext cx="5175250" cy="2348971"/>
          </a:xfrm>
          <a:prstGeom prst="roundRect">
            <a:avLst>
              <a:gd name="adj" fmla="val 4190"/>
            </a:avLst>
          </a:prstGeom>
          <a:solidFill>
            <a:srgbClr val="F3F6FA"/>
          </a:solidFill>
          <a:ln w="6350">
            <a:solidFill>
              <a:srgbClr val="D6E0EC"/>
            </a:solidFill>
            <a:prstDash val="solid"/>
          </a:ln>
        </p:spPr>
      </p:sp>
      <p:sp>
        <p:nvSpPr>
          <p:cNvPr id="5" name="Text 3"/>
          <p:cNvSpPr/>
          <p:nvPr/>
        </p:nvSpPr>
        <p:spPr>
          <a:xfrm>
            <a:off x="1071033" y="2467967"/>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PUBLIC AND PRIVATE</a:t>
            </a:r>
            <a:endParaRPr lang="en-US" sz="1200" dirty="0"/>
          </a:p>
        </p:txBody>
      </p:sp>
      <p:sp>
        <p:nvSpPr>
          <p:cNvPr id="6" name="Text 4"/>
          <p:cNvSpPr/>
          <p:nvPr/>
        </p:nvSpPr>
        <p:spPr>
          <a:xfrm>
            <a:off x="1071033" y="2808288"/>
            <a:ext cx="480508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Docker Hub</a:t>
            </a:r>
            <a:r>
              <a:rPr lang="en-US" sz="1400" dirty="0">
                <a:solidFill>
                  <a:srgbClr val="0F2A43"/>
                </a:solidFill>
                <a:latin typeface="Arial" pitchFamily="34" charset="0"/>
                <a:ea typeface="Arial" pitchFamily="34" charset="-122"/>
                <a:cs typeface="Arial" pitchFamily="34" charset="-120"/>
              </a:rPr>
              <a:t>: the default public registry</a:t>
            </a:r>
            <a:endParaRPr lang="en-US" sz="1400" dirty="0"/>
          </a:p>
        </p:txBody>
      </p:sp>
      <p:sp>
        <p:nvSpPr>
          <p:cNvPr id="7" name="Text 5"/>
          <p:cNvSpPr/>
          <p:nvPr/>
        </p:nvSpPr>
        <p:spPr>
          <a:xfrm>
            <a:off x="1071033" y="3184196"/>
            <a:ext cx="4805087"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Cloud registries</a:t>
            </a:r>
            <a:r>
              <a:rPr lang="en-US" sz="1400" dirty="0">
                <a:solidFill>
                  <a:srgbClr val="0F2A43"/>
                </a:solidFill>
                <a:latin typeface="Arial" pitchFamily="34" charset="0"/>
                <a:ea typeface="Arial" pitchFamily="34" charset="-122"/>
                <a:cs typeface="Arial" pitchFamily="34" charset="-120"/>
              </a:rPr>
              <a:t>: Amazon ECR, Google Artifact Registry, Azure Container Registry</a:t>
            </a:r>
            <a:endParaRPr lang="en-US" sz="1400" dirty="0"/>
          </a:p>
        </p:txBody>
      </p:sp>
      <p:sp>
        <p:nvSpPr>
          <p:cNvPr id="8" name="Text 6"/>
          <p:cNvSpPr/>
          <p:nvPr/>
        </p:nvSpPr>
        <p:spPr>
          <a:xfrm>
            <a:off x="1071033" y="3809008"/>
            <a:ext cx="491701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Self-hosted</a:t>
            </a:r>
            <a:r>
              <a:rPr lang="en-US" sz="1400" dirty="0">
                <a:solidFill>
                  <a:srgbClr val="0F2A43"/>
                </a:solidFill>
                <a:latin typeface="Arial" pitchFamily="34" charset="0"/>
                <a:ea typeface="Arial" pitchFamily="34" charset="-122"/>
                <a:cs typeface="Arial" pitchFamily="34" charset="-120"/>
              </a:rPr>
              <a:t>: a private registry run inside your own network</a:t>
            </a:r>
            <a:endParaRPr lang="en-US" sz="1400" dirty="0"/>
          </a:p>
        </p:txBody>
      </p:sp>
      <p:sp>
        <p:nvSpPr>
          <p:cNvPr id="9" name="Shape 7"/>
          <p:cNvSpPr/>
          <p:nvPr/>
        </p:nvSpPr>
        <p:spPr>
          <a:xfrm>
            <a:off x="6200775" y="2212913"/>
            <a:ext cx="5175250" cy="2348971"/>
          </a:xfrm>
          <a:prstGeom prst="roundRect">
            <a:avLst>
              <a:gd name="adj" fmla="val 4190"/>
            </a:avLst>
          </a:prstGeom>
          <a:solidFill>
            <a:srgbClr val="F3F6FA"/>
          </a:solidFill>
          <a:ln w="6350">
            <a:solidFill>
              <a:srgbClr val="D6E0EC"/>
            </a:solidFill>
            <a:prstDash val="solid"/>
          </a:ln>
        </p:spPr>
      </p:sp>
      <p:sp>
        <p:nvSpPr>
          <p:cNvPr id="10" name="Text 8"/>
          <p:cNvSpPr/>
          <p:nvPr/>
        </p:nvSpPr>
        <p:spPr>
          <a:xfrm>
            <a:off x="6455833" y="2467967"/>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Arial" pitchFamily="34" charset="0"/>
                <a:ea typeface="Arial" pitchFamily="34" charset="-122"/>
                <a:cs typeface="Arial" pitchFamily="34" charset="-120"/>
              </a:rPr>
              <a:t>TYPICAL WORKFLOW</a:t>
            </a:r>
            <a:endParaRPr lang="en-US" sz="1200" dirty="0"/>
          </a:p>
        </p:txBody>
      </p:sp>
      <p:sp>
        <p:nvSpPr>
          <p:cNvPr id="11" name="Text 9"/>
          <p:cNvSpPr/>
          <p:nvPr/>
        </p:nvSpPr>
        <p:spPr>
          <a:xfrm>
            <a:off x="6455833" y="2808288"/>
            <a:ext cx="4805087"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docker login</a:t>
            </a:r>
            <a:endParaRPr lang="en-US" sz="1300" dirty="0"/>
          </a:p>
        </p:txBody>
      </p:sp>
      <p:sp>
        <p:nvSpPr>
          <p:cNvPr id="12" name="Text 10"/>
          <p:cNvSpPr/>
          <p:nvPr/>
        </p:nvSpPr>
        <p:spPr>
          <a:xfrm>
            <a:off x="6455833" y="3088946"/>
            <a:ext cx="4805087"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docker tag myapp user/myapp:1.0</a:t>
            </a:r>
            <a:endParaRPr lang="en-US" sz="1300" dirty="0"/>
          </a:p>
        </p:txBody>
      </p:sp>
      <p:sp>
        <p:nvSpPr>
          <p:cNvPr id="13" name="Text 11"/>
          <p:cNvSpPr/>
          <p:nvPr/>
        </p:nvSpPr>
        <p:spPr>
          <a:xfrm>
            <a:off x="6455833" y="3369605"/>
            <a:ext cx="4805087"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docker push user/myapp:1.0</a:t>
            </a:r>
            <a:endParaRPr lang="en-US" sz="1300" dirty="0"/>
          </a:p>
        </p:txBody>
      </p:sp>
      <p:sp>
        <p:nvSpPr>
          <p:cNvPr id="14" name="Text 12"/>
          <p:cNvSpPr/>
          <p:nvPr/>
        </p:nvSpPr>
        <p:spPr>
          <a:xfrm>
            <a:off x="6455833" y="3650258"/>
            <a:ext cx="4805087" cy="306057"/>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0F2A43"/>
                </a:solidFill>
                <a:latin typeface="Courier New" pitchFamily="49" charset="0"/>
                <a:ea typeface="Courier New" pitchFamily="49" charset="-122"/>
                <a:cs typeface="Courier New" pitchFamily="49" charset="-120"/>
              </a:rPr>
              <a:t>docker pull user/myapp:1.0</a:t>
            </a:r>
            <a:endParaRPr lang="en-US" sz="1300" dirty="0"/>
          </a:p>
        </p:txBody>
      </p:sp>
      <p:sp>
        <p:nvSpPr>
          <p:cNvPr id="15" name="Text 13"/>
          <p:cNvSpPr/>
          <p:nvPr/>
        </p:nvSpPr>
        <p:spPr>
          <a:xfrm>
            <a:off x="6455833" y="4057917"/>
            <a:ext cx="480508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F63"/>
                </a:solidFill>
                <a:latin typeface="Arial" pitchFamily="34" charset="0"/>
                <a:ea typeface="Arial" pitchFamily="34" charset="-122"/>
                <a:cs typeface="Arial" pitchFamily="34" charset="-120"/>
              </a:rPr>
              <a:t>Name format: registry/repository:tag</a:t>
            </a:r>
            <a:endParaRPr lang="en-US" sz="14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Arial" pitchFamily="34" charset="0"/>
                <a:ea typeface="Arial" pitchFamily="34" charset="-122"/>
                <a:cs typeface="Arial" pitchFamily="34" charset="-120"/>
              </a:rPr>
              <a:t>Key takeaways</a:t>
            </a:r>
            <a:endParaRPr lang="en-US" sz="3200" dirty="0"/>
          </a:p>
        </p:txBody>
      </p:sp>
      <p:sp>
        <p:nvSpPr>
          <p:cNvPr id="3" name="Shape 1"/>
          <p:cNvSpPr/>
          <p:nvPr/>
        </p:nvSpPr>
        <p:spPr>
          <a:xfrm>
            <a:off x="812800" y="2368285"/>
            <a:ext cx="10566400" cy="0"/>
          </a:xfrm>
          <a:prstGeom prst="line">
            <a:avLst/>
          </a:prstGeom>
          <a:noFill/>
          <a:ln w="6350">
            <a:solidFill>
              <a:srgbClr val="D6E0EC"/>
            </a:solidFill>
            <a:prstDash val="solid"/>
          </a:ln>
        </p:spPr>
      </p:sp>
      <p:sp>
        <p:nvSpPr>
          <p:cNvPr id="4" name="Text 2"/>
          <p:cNvSpPr/>
          <p:nvPr/>
        </p:nvSpPr>
        <p:spPr>
          <a:xfrm>
            <a:off x="812800" y="1762720"/>
            <a:ext cx="66040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63ED"/>
                </a:solidFill>
                <a:latin typeface="Arial" pitchFamily="34" charset="0"/>
                <a:ea typeface="Arial" pitchFamily="34" charset="-122"/>
                <a:cs typeface="Arial" pitchFamily="34" charset="-120"/>
              </a:rPr>
              <a:t>01</a:t>
            </a:r>
            <a:endParaRPr lang="en-US" sz="2400" dirty="0"/>
          </a:p>
        </p:txBody>
      </p:sp>
      <p:sp>
        <p:nvSpPr>
          <p:cNvPr id="5" name="Text 3"/>
          <p:cNvSpPr/>
          <p:nvPr/>
        </p:nvSpPr>
        <p:spPr>
          <a:xfrm>
            <a:off x="1625600" y="1833829"/>
            <a:ext cx="1004620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Containers package an application with its dependencies so it runs consistently anywhere.</a:t>
            </a:r>
            <a:endParaRPr lang="en-US" sz="1600" dirty="0"/>
          </a:p>
        </p:txBody>
      </p:sp>
      <p:sp>
        <p:nvSpPr>
          <p:cNvPr id="6" name="Shape 4"/>
          <p:cNvSpPr/>
          <p:nvPr/>
        </p:nvSpPr>
        <p:spPr>
          <a:xfrm>
            <a:off x="812800" y="3154830"/>
            <a:ext cx="10566400" cy="0"/>
          </a:xfrm>
          <a:prstGeom prst="line">
            <a:avLst/>
          </a:prstGeom>
          <a:noFill/>
          <a:ln w="6350">
            <a:solidFill>
              <a:srgbClr val="D6E0EC"/>
            </a:solidFill>
            <a:prstDash val="solid"/>
          </a:ln>
        </p:spPr>
      </p:sp>
      <p:sp>
        <p:nvSpPr>
          <p:cNvPr id="7" name="Text 5"/>
          <p:cNvSpPr/>
          <p:nvPr/>
        </p:nvSpPr>
        <p:spPr>
          <a:xfrm>
            <a:off x="812800" y="2549265"/>
            <a:ext cx="66040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63ED"/>
                </a:solidFill>
                <a:latin typeface="Arial" pitchFamily="34" charset="0"/>
                <a:ea typeface="Arial" pitchFamily="34" charset="-122"/>
                <a:cs typeface="Arial" pitchFamily="34" charset="-120"/>
              </a:rPr>
              <a:t>02</a:t>
            </a:r>
            <a:endParaRPr lang="en-US" sz="2400" dirty="0"/>
          </a:p>
        </p:txBody>
      </p:sp>
      <p:sp>
        <p:nvSpPr>
          <p:cNvPr id="8" name="Text 6"/>
          <p:cNvSpPr/>
          <p:nvPr/>
        </p:nvSpPr>
        <p:spPr>
          <a:xfrm>
            <a:off x="1625600" y="2620367"/>
            <a:ext cx="1004620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The Docker client, daemon, images, containers and registry work together.</a:t>
            </a:r>
            <a:endParaRPr lang="en-US" sz="1600" dirty="0"/>
          </a:p>
        </p:txBody>
      </p:sp>
      <p:sp>
        <p:nvSpPr>
          <p:cNvPr id="9" name="Shape 7"/>
          <p:cNvSpPr/>
          <p:nvPr/>
        </p:nvSpPr>
        <p:spPr>
          <a:xfrm>
            <a:off x="812800" y="3941368"/>
            <a:ext cx="10566400" cy="0"/>
          </a:xfrm>
          <a:prstGeom prst="line">
            <a:avLst/>
          </a:prstGeom>
          <a:noFill/>
          <a:ln w="6350">
            <a:solidFill>
              <a:srgbClr val="D6E0EC"/>
            </a:solidFill>
            <a:prstDash val="solid"/>
          </a:ln>
        </p:spPr>
      </p:sp>
      <p:sp>
        <p:nvSpPr>
          <p:cNvPr id="10" name="Text 8"/>
          <p:cNvSpPr/>
          <p:nvPr/>
        </p:nvSpPr>
        <p:spPr>
          <a:xfrm>
            <a:off x="812800" y="3335803"/>
            <a:ext cx="66040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63ED"/>
                </a:solidFill>
                <a:latin typeface="Arial" pitchFamily="34" charset="0"/>
                <a:ea typeface="Arial" pitchFamily="34" charset="-122"/>
                <a:cs typeface="Arial" pitchFamily="34" charset="-120"/>
              </a:rPr>
              <a:t>03</a:t>
            </a:r>
            <a:endParaRPr lang="en-US" sz="2400" dirty="0"/>
          </a:p>
        </p:txBody>
      </p:sp>
      <p:sp>
        <p:nvSpPr>
          <p:cNvPr id="11" name="Text 9"/>
          <p:cNvSpPr/>
          <p:nvPr/>
        </p:nvSpPr>
        <p:spPr>
          <a:xfrm>
            <a:off x="1625600" y="3406911"/>
            <a:ext cx="1004620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Images are layered, read-only templates, and containers are their running instances.</a:t>
            </a:r>
            <a:endParaRPr lang="en-US" sz="1600" dirty="0"/>
          </a:p>
        </p:txBody>
      </p:sp>
      <p:sp>
        <p:nvSpPr>
          <p:cNvPr id="12" name="Shape 10"/>
          <p:cNvSpPr/>
          <p:nvPr/>
        </p:nvSpPr>
        <p:spPr>
          <a:xfrm>
            <a:off x="812800" y="4727906"/>
            <a:ext cx="10566400" cy="0"/>
          </a:xfrm>
          <a:prstGeom prst="line">
            <a:avLst/>
          </a:prstGeom>
          <a:noFill/>
          <a:ln w="6350">
            <a:solidFill>
              <a:srgbClr val="D6E0EC"/>
            </a:solidFill>
            <a:prstDash val="solid"/>
          </a:ln>
        </p:spPr>
      </p:sp>
      <p:sp>
        <p:nvSpPr>
          <p:cNvPr id="13" name="Text 11"/>
          <p:cNvSpPr/>
          <p:nvPr/>
        </p:nvSpPr>
        <p:spPr>
          <a:xfrm>
            <a:off x="812800" y="4122341"/>
            <a:ext cx="66040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63ED"/>
                </a:solidFill>
                <a:latin typeface="Arial" pitchFamily="34" charset="0"/>
                <a:ea typeface="Arial" pitchFamily="34" charset="-122"/>
                <a:cs typeface="Arial" pitchFamily="34" charset="-120"/>
              </a:rPr>
              <a:t>04</a:t>
            </a:r>
            <a:endParaRPr lang="en-US" sz="2400" dirty="0"/>
          </a:p>
        </p:txBody>
      </p:sp>
      <p:sp>
        <p:nvSpPr>
          <p:cNvPr id="14" name="Text 12"/>
          <p:cNvSpPr/>
          <p:nvPr/>
        </p:nvSpPr>
        <p:spPr>
          <a:xfrm>
            <a:off x="1625600" y="4193449"/>
            <a:ext cx="1004620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2A43"/>
                </a:solidFill>
                <a:latin typeface="Arial" pitchFamily="34" charset="0"/>
                <a:ea typeface="Arial" pitchFamily="34" charset="-122"/>
                <a:cs typeface="Arial" pitchFamily="34" charset="-120"/>
              </a:rPr>
              <a:t>Registries store and share images so teams can build once and run anywhere.</a:t>
            </a:r>
            <a:endParaRPr lang="en-US" sz="16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Introduction to Containerization</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10 / 10</a:t>
            </a:r>
            <a:endParaRPr lang="en-US" sz="1200" dirty="0"/>
          </a:p>
        </p:txBody>
      </p:sp>
    </p:spTree>
  </p:cSld>
  <p:clrMapOvr>
    <a:masterClrMapping/>
  </p:clrMapOvr>
</p:sld>
</file>

<file path=ppt/theme/theme1.xml><?xml version="1.0" encoding="utf-8"?>
<a:theme xmlns:a="http://schemas.openxmlformats.org/drawingml/2006/main" name="Introduction to Containerization and Docker">
  <a:themeElements>
    <a:clrScheme name="Introduction to Containerization and Docker">
      <a:dk1>
        <a:srgbClr val="0F2A43"/>
      </a:dk1>
      <a:lt1>
        <a:srgbClr val="FFFFFF"/>
      </a:lt1>
      <a:dk2>
        <a:srgbClr val="4B5F72"/>
      </a:dk2>
      <a:lt2>
        <a:srgbClr val="E7EAEC"/>
      </a:lt2>
      <a:accent1>
        <a:srgbClr val="1D63ED"/>
      </a:accent1>
      <a:accent2>
        <a:srgbClr val="8FB2F7"/>
      </a:accent2>
      <a:accent3>
        <a:srgbClr val="C9DAFB"/>
      </a:accent3>
      <a:accent4>
        <a:srgbClr val="5B6B7F"/>
      </a:accent4>
      <a:accent5>
        <a:srgbClr val="3D4F63"/>
      </a:accent5>
      <a:accent6>
        <a:srgbClr val="E3ECFD"/>
      </a:accent6>
      <a:hlink>
        <a:srgbClr val="0563C1"/>
      </a:hlink>
      <a:folHlink>
        <a:srgbClr val="954F72"/>
      </a:folHlink>
    </a:clrScheme>
    <a:fontScheme name="Introduction to Containerization and Dock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Containerization and Docker</dc:title>
  <dc:subject/>
  <dc:creator/>
  <cp:lastModifiedBy/>
  <cp:revision>1</cp:revision>
  <dcterms:created xsi:type="dcterms:W3CDTF">2026-10-25T15:30:23Z</dcterms:created>
  <dcterms:modified xsi:type="dcterms:W3CDTF">2026-10-25T15:30:23Z</dcterms:modified>
</cp:coreProperties>
</file>